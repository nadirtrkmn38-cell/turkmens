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[Segment 1]</c:v>
                </c:pt>
              </c:strCache>
            </c:strRef>
          </c:tx>
          <c:spPr>
            <a:solidFill>
              <a:srgbClr val="0C22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Yıl 1</c:v>
                  </c:pt>
                  <c:pt idx="1">
                    <c:v>Yıl 2</c:v>
                  </c:pt>
                  <c:pt idx="2">
                    <c:v>Yıl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12</c:v>
                </c:pt>
                <c:pt idx="2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[Segment 2]</c:v>
                </c:pt>
              </c:strCache>
            </c:strRef>
          </c:tx>
          <c:spPr>
            <a:solidFill>
              <a:srgbClr val="0B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Yıl 1</c:v>
                  </c:pt>
                  <c:pt idx="1">
                    <c:v>Yıl 2</c:v>
                  </c:pt>
                  <c:pt idx="2">
                    <c:v>Yıl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8</c:v>
                </c:pt>
                <c:pt idx="2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[Segment 3]</c:v>
                </c:pt>
              </c:strCache>
            </c:strRef>
          </c:tx>
          <c:spPr>
            <a:solidFill>
              <a:srgbClr val="8CC7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Yıl 1</c:v>
                  </c:pt>
                  <c:pt idx="1">
                    <c:v>Yıl 2</c:v>
                  </c:pt>
                  <c:pt idx="2">
                    <c:v>Yıl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97A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E6B7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Kapak. Proje veya hizmet adını ve tek cümlelik değer önermesini yazın. Köşeli parantez içindeki tüm alanlar doldurulacak.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Amaç: tek, ölçülebilir cümle. Sağdaki üç göstergeyi (XX) plandaki hedeflerle doldurun; gerekirse gösterge adlarını değiştirin.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kutuya 3–4 madde yeterli. Köşeli parantezler yol göstermek içindir; kendi maddelerinizle değiştirin.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Matristeki R ve F noktalarının yeri örnektir; her maddeyi olasılık ve etkisine göre ilgili hücreye taşıyın. Sağ sütunda her risk için önlem, her fırsat için aksiyon yazın.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 sayısını ihtiyaca göre azaltın. 'ör.' satırları yalnızca yol göstermek içindir; silin veya kendi tanımınızla değiştirin. Öncelik etiketini segment stratejisine göre güncelleyin.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TAM: pazardaki toplam potansiyel. SAM: bizim erişebildiğimiz kısım. SOM: plan döneminde kazanmayı hedeflediğimiz pay. Her birini sağdaki formülle hesaplayıp daireler içindeki XX alanlarına yazın; kaynağı mutlaka belirtin.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Grafikteki değerler örnektir: sağ tıklayıp 'Verileri Düzenle' ile kendi hedeflerinizi girin. Faz sayısını ve sürelerini plana göre uyarlayın. Son kutuya yönetimden beklenen kararı yazın.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640080"/>
            <a:ext cx="5852160" cy="5852160"/>
          </a:xfrm>
          <a:prstGeom prst="ellipse">
            <a:avLst/>
          </a:prstGeom>
          <a:solidFill>
            <a:srgbClr val="0B7A6E">
              <a:alpha val="18000"/>
            </a:srgbClr>
          </a:solidFill>
          <a:ln w="9525">
            <a:solidFill>
              <a:srgbClr val="3FA5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1463040"/>
            <a:ext cx="4206240" cy="4206240"/>
          </a:xfrm>
          <a:prstGeom prst="ellipse">
            <a:avLst/>
          </a:prstGeom>
          <a:solidFill>
            <a:srgbClr val="0B7A6E">
              <a:alpha val="30000"/>
            </a:srgbClr>
          </a:solidFill>
          <a:ln w="9525">
            <a:solidFill>
              <a:srgbClr val="3FA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2286000"/>
            <a:ext cx="2560320" cy="2560320"/>
          </a:xfrm>
          <a:prstGeom prst="ellipse">
            <a:avLst/>
          </a:prstGeom>
          <a:solidFill>
            <a:srgbClr val="0B7A6E">
              <a:alpha val="50000"/>
            </a:srgbClr>
          </a:solidFill>
          <a:ln w="9525">
            <a:solidFill>
              <a:srgbClr val="3FA5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3063240"/>
            <a:ext cx="1005840" cy="1005840"/>
          </a:xfrm>
          <a:prstGeom prst="ellipse">
            <a:avLst/>
          </a:prstGeom>
          <a:solidFill>
            <a:srgbClr val="D9912B"/>
          </a:solidFill>
          <a:ln w="12700">
            <a:solidFill>
              <a:srgbClr val="D991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PLANI TASLAĞI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745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[Proje / hizmet adı]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[Tek cümle: ne sunuyoruz, kime sunuyoruz ve hangi sonucu hedefliyoruz]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892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7F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 Soyad]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7F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[Birim adı]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7F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 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[GG.AA.YYYY]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Amaç ve hedefler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plan neyi başarmak için var ve başarıyı nasıl ölçeceğiz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[Şirket / birim adı]  ·  İş planı taslağı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760720" cy="2011680"/>
          </a:xfrm>
          <a:prstGeom prst="roundRect">
            <a:avLst>
              <a:gd name="adj" fmla="val 5455"/>
            </a:avLst>
          </a:prstGeom>
          <a:solidFill>
            <a:srgbClr val="E4F2EF"/>
          </a:solidFill>
          <a:ln w="12700">
            <a:solidFill>
              <a:srgbClr val="E4F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74520"/>
            <a:ext cx="566928" cy="566928"/>
          </a:xfrm>
          <a:prstGeom prst="ellipse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021921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Amaç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0604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[Bu iş planıyla ulaşmak istediğimiz sonucu tek ve ölçülebilir bir cümleyle yazın.]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şimdi?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3891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[Mevzuat, pazar veya müşteri tarafındaki tetikleyici]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[Rakiplerin durumu veya boşluk]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[Kurumun mevcut yetkinliği ve avantajı]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766560" y="1600200"/>
            <a:ext cx="487375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040880" y="1929384"/>
            <a:ext cx="640080" cy="640080"/>
          </a:xfrm>
          <a:prstGeom prst="ellipse">
            <a:avLst/>
          </a:prstGeom>
          <a:solidFill>
            <a:srgbClr val="0C2233"/>
          </a:solidFill>
          <a:ln w="12700">
            <a:solidFill>
              <a:srgbClr val="0C22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301" y="2095805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909560" y="1801368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</a:t>
            </a:r>
            <a:endParaRPr lang="en-US" sz="3200" dirty="0"/>
          </a:p>
        </p:txBody>
      </p:sp>
      <p:sp>
        <p:nvSpPr>
          <p:cNvPr id="17" name="Text 13"/>
          <p:cNvSpPr txBox="1"/>
          <p:nvPr/>
        </p:nvSpPr>
        <p:spPr>
          <a:xfrm>
            <a:off x="7909560" y="24414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9966960" y="20574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[Hedef yıl] sonuna kadar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766560" y="3081528"/>
            <a:ext cx="487375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040880" y="3410712"/>
            <a:ext cx="640080" cy="640080"/>
          </a:xfrm>
          <a:prstGeom prst="ellipse">
            <a:avLst/>
          </a:prstGeom>
          <a:solidFill>
            <a:srgbClr val="0C2233"/>
          </a:solidFill>
          <a:ln w="12700">
            <a:solidFill>
              <a:srgbClr val="0C223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301" y="3577133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909560" y="328269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 M ₺</a:t>
            </a:r>
            <a:endParaRPr lang="en-US" sz="3200" dirty="0"/>
          </a:p>
        </p:txBody>
      </p:sp>
      <p:sp>
        <p:nvSpPr>
          <p:cNvPr id="23" name="Text 18"/>
          <p:cNvSpPr txBox="1"/>
          <p:nvPr/>
        </p:nvSpPr>
        <p:spPr>
          <a:xfrm>
            <a:off x="7909560" y="39227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yıllık gelir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9966960" y="35387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[Hedef yıl] itibarıyla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766560" y="4562856"/>
            <a:ext cx="4873752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040880" y="4892040"/>
            <a:ext cx="640080" cy="640080"/>
          </a:xfrm>
          <a:prstGeom prst="ellipse">
            <a:avLst/>
          </a:prstGeom>
          <a:solidFill>
            <a:srgbClr val="0C2233"/>
          </a:solidFill>
          <a:ln w="12700">
            <a:solidFill>
              <a:srgbClr val="0C223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301" y="5058461"/>
            <a:ext cx="307238" cy="30723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909560" y="476402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XX</a:t>
            </a:r>
            <a:endParaRPr lang="en-US" sz="3200" dirty="0"/>
          </a:p>
        </p:txBody>
      </p:sp>
      <p:sp>
        <p:nvSpPr>
          <p:cNvPr id="29" name="Text 23"/>
          <p:cNvSpPr txBox="1"/>
          <p:nvPr/>
        </p:nvSpPr>
        <p:spPr>
          <a:xfrm>
            <a:off x="7909560" y="54041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 payı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9966960" y="50200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Ulaşılabilir pazar içinde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analizi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güçlerimizi ve zayıflıklarımızı dış fırsat ve tehditlerle birlikte değerlendiriyoruz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[Şirket / birim adı]  ·  İş planı taslağı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Olumlu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19672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Olumsuz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6746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9880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34440" y="178308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E4F2EF"/>
          </a:solidFill>
          <a:ln w="12700">
            <a:solidFill>
              <a:srgbClr val="E4F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08760" y="2039112"/>
            <a:ext cx="566928" cy="566928"/>
          </a:xfrm>
          <a:prstGeom prst="ellipse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08760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Güçlü yönler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27432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[Teknik uzmanlık ve ekip deneyimi]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[Referans projeler, marka güveni]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[Mevcut müşteri tabanı]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19672" y="178308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BF1E1"/>
          </a:solidFill>
          <a:ln w="12700">
            <a:solidFill>
              <a:srgbClr val="FBF1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93992" y="2039112"/>
            <a:ext cx="566928" cy="566928"/>
          </a:xfrm>
          <a:prstGeom prst="ellipse">
            <a:avLst/>
          </a:prstGeom>
          <a:solidFill>
            <a:srgbClr val="D9912B"/>
          </a:solidFill>
          <a:ln w="12700">
            <a:solidFill>
              <a:srgbClr val="D991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93992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525512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9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Zayıf yönler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27432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[Kaynak veya kapasite kısıtı]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[Eksik yetkinlik ya da süreç]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[Maliyet yapısı]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234440" y="4096512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E6F1E7"/>
          </a:solidFill>
          <a:ln w="12700">
            <a:solidFill>
              <a:srgbClr val="E6F1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08760" y="4352544"/>
            <a:ext cx="566928" cy="566928"/>
          </a:xfrm>
          <a:prstGeom prst="ellipse">
            <a:avLst/>
          </a:prstGeom>
          <a:solidFill>
            <a:srgbClr val="3F7F4A"/>
          </a:solidFill>
          <a:ln w="12700">
            <a:solidFill>
              <a:srgbClr val="3F7F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508760" y="4352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2240280" y="43982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7F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Fırsatlar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5056632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[Yeni mevzuat veya teşvik]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[Büyüyen müşteri talebi]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[İş birliği ve ortaklık imkânı]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19672" y="4096512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8E7E4"/>
          </a:solidFill>
          <a:ln w="12700">
            <a:solidFill>
              <a:srgbClr val="F8E7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93992" y="4352544"/>
            <a:ext cx="566928" cy="566928"/>
          </a:xfrm>
          <a:prstGeom prst="ellipse">
            <a:avLst/>
          </a:prstGeom>
          <a:solidFill>
            <a:srgbClr val="B5473A"/>
          </a:solidFill>
          <a:ln w="12700">
            <a:solidFill>
              <a:srgbClr val="B547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93992" y="4352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525512" y="43982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4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Tehditler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839712" y="5056632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[Rakip teklifler, fiyat baskısı]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[Mevzuat veya piyasa belirsizliği]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[Makroekonomik koşullar]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Riskler ve fırsatlar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 ve etkiye göre önceliklendirme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[Şirket / birim adı]  ·  İş planı taslağı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88720" y="1645920"/>
            <a:ext cx="1371600" cy="1371600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06040" y="1645920"/>
            <a:ext cx="1371600" cy="1371600"/>
          </a:xfrm>
          <a:prstGeom prst="rect">
            <a:avLst/>
          </a:prstGeom>
          <a:solidFill>
            <a:srgbClr val="F6E6CF"/>
          </a:solidFill>
          <a:ln w="12700">
            <a:solidFill>
              <a:srgbClr val="F6E6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1645920"/>
            <a:ext cx="1371600" cy="1371600"/>
          </a:xfrm>
          <a:prstGeom prst="rect">
            <a:avLst/>
          </a:prstGeom>
          <a:solidFill>
            <a:srgbClr val="F2D2CC"/>
          </a:solidFill>
          <a:ln w="12700">
            <a:solidFill>
              <a:srgbClr val="F2D2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3063240"/>
            <a:ext cx="1371600" cy="1371600"/>
          </a:xfrm>
          <a:prstGeom prst="rect">
            <a:avLst/>
          </a:prstGeom>
          <a:solidFill>
            <a:srgbClr val="E6EEF0"/>
          </a:solidFill>
          <a:ln w="12700">
            <a:solidFill>
              <a:srgbClr val="E6EE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3063240"/>
            <a:ext cx="1371600" cy="1371600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3063240"/>
            <a:ext cx="1371600" cy="1371600"/>
          </a:xfrm>
          <a:prstGeom prst="rect">
            <a:avLst/>
          </a:prstGeom>
          <a:solidFill>
            <a:srgbClr val="F6E6CF"/>
          </a:solidFill>
          <a:ln w="12700">
            <a:solidFill>
              <a:srgbClr val="F6E6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4480560"/>
            <a:ext cx="1371600" cy="1371600"/>
          </a:xfrm>
          <a:prstGeom prst="rect">
            <a:avLst/>
          </a:prstGeom>
          <a:solidFill>
            <a:srgbClr val="DDEBE7"/>
          </a:solidFill>
          <a:ln w="12700">
            <a:solidFill>
              <a:srgbClr val="DDEB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4480560"/>
            <a:ext cx="1371600" cy="1371600"/>
          </a:xfrm>
          <a:prstGeom prst="rect">
            <a:avLst/>
          </a:prstGeom>
          <a:solidFill>
            <a:srgbClr val="E6EEF0"/>
          </a:solidFill>
          <a:ln w="12700">
            <a:solidFill>
              <a:srgbClr val="E6EE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4480560"/>
            <a:ext cx="1371600" cy="1371600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88720" y="5943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0520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606040" y="5943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63474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5943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22174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62179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 →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 rot="16200000">
            <a:off x="91440" y="36073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 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6240" y="2103120"/>
            <a:ext cx="502920" cy="502920"/>
          </a:xfrm>
          <a:prstGeom prst="ellipse">
            <a:avLst/>
          </a:prstGeom>
          <a:solidFill>
            <a:srgbClr val="B547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06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2103120"/>
            <a:ext cx="502920" cy="502920"/>
          </a:xfrm>
          <a:prstGeom prst="ellipse">
            <a:avLst/>
          </a:prstGeom>
          <a:solidFill>
            <a:srgbClr val="0B7A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06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63240" y="3520440"/>
            <a:ext cx="502920" cy="502920"/>
          </a:xfrm>
          <a:prstGeom prst="ellipse">
            <a:avLst/>
          </a:prstGeom>
          <a:solidFill>
            <a:srgbClr val="B547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06324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45920" y="4937760"/>
            <a:ext cx="502920" cy="502920"/>
          </a:xfrm>
          <a:prstGeom prst="ellipse">
            <a:avLst/>
          </a:prstGeom>
          <a:solidFill>
            <a:srgbClr val="B547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4592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63240" y="2103120"/>
            <a:ext cx="502920" cy="502920"/>
          </a:xfrm>
          <a:prstGeom prst="ellipse">
            <a:avLst/>
          </a:prstGeom>
          <a:solidFill>
            <a:srgbClr val="0B7A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063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1719072"/>
            <a:ext cx="457200" cy="457200"/>
          </a:xfrm>
          <a:prstGeom prst="ellipse">
            <a:avLst/>
          </a:prstGeom>
          <a:solidFill>
            <a:srgbClr val="B5473A"/>
          </a:solidFill>
          <a:ln w="12700">
            <a:solidFill>
              <a:srgbClr val="B547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16459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[Risk tanımı]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19933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Önlem: [azaltma adımı]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12280" y="2414016"/>
            <a:ext cx="4828032" cy="0"/>
          </a:xfrm>
          <a:prstGeom prst="line">
            <a:avLst/>
          </a:prstGeom>
          <a:noFill/>
          <a:ln w="9525">
            <a:solidFill>
              <a:srgbClr val="DCE2E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587752"/>
            <a:ext cx="457200" cy="457200"/>
          </a:xfrm>
          <a:prstGeom prst="ellipse">
            <a:avLst/>
          </a:prstGeom>
          <a:solidFill>
            <a:srgbClr val="B5473A"/>
          </a:solidFill>
          <a:ln w="12700">
            <a:solidFill>
              <a:srgbClr val="B5473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7220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812280" y="25146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[Risk tanımı]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812280" y="28620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Önlem: [azaltma adımı]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12280" y="3282696"/>
            <a:ext cx="4828032" cy="0"/>
          </a:xfrm>
          <a:prstGeom prst="line">
            <a:avLst/>
          </a:prstGeom>
          <a:noFill/>
          <a:ln w="9525">
            <a:solidFill>
              <a:srgbClr val="DCE2E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3456432"/>
            <a:ext cx="457200" cy="457200"/>
          </a:xfrm>
          <a:prstGeom prst="ellipse">
            <a:avLst/>
          </a:prstGeom>
          <a:solidFill>
            <a:srgbClr val="B5473A"/>
          </a:solidFill>
          <a:ln w="12700">
            <a:solidFill>
              <a:srgbClr val="B5473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17220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812280" y="33832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[Risk tanımı]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6812280" y="37307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Önlem: [azaltma adımı]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812280" y="4151376"/>
            <a:ext cx="4828032" cy="0"/>
          </a:xfrm>
          <a:prstGeom prst="line">
            <a:avLst/>
          </a:prstGeom>
          <a:noFill/>
          <a:ln w="9525">
            <a:solidFill>
              <a:srgbClr val="DCE2E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72200" y="4325112"/>
            <a:ext cx="457200" cy="457200"/>
          </a:xfrm>
          <a:prstGeom prst="ellipse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7220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812280" y="42519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[Fırsat tanımı]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6812280" y="45994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Aksiyon: [değerlendirme adımı]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812280" y="5020056"/>
            <a:ext cx="4828032" cy="0"/>
          </a:xfrm>
          <a:prstGeom prst="line">
            <a:avLst/>
          </a:prstGeom>
          <a:noFill/>
          <a:ln w="9525">
            <a:solidFill>
              <a:srgbClr val="DCE2E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72200" y="5193792"/>
            <a:ext cx="457200" cy="457200"/>
          </a:xfrm>
          <a:prstGeom prst="ellipse">
            <a:avLst/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17220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812280" y="51206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[Fırsat tanımı]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6812280" y="54681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Aksiyon: [değerlendirme adımı]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Kimler müşterimiz olabilir?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müşteri segmentleri ve her birine sunduğumuz değer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[Şirket / birim adı]  ·  İş planı taslağı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51760" cy="4526280"/>
          </a:xfrm>
          <a:prstGeom prst="roundRect">
            <a:avLst>
              <a:gd name="adj" fmla="val 3448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74520"/>
            <a:ext cx="658368" cy="658368"/>
          </a:xfrm>
          <a:prstGeom prst="ellipse">
            <a:avLst/>
          </a:prstGeom>
          <a:solidFill>
            <a:srgbClr val="0C2233"/>
          </a:solidFill>
          <a:ln w="12700">
            <a:solidFill>
              <a:srgbClr val="0C22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136" y="2045696"/>
            <a:ext cx="316017" cy="31601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679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[Segment 1]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ör. büyük sanayi tesisleri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611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[Büyüklük, sektör]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270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İhtiyaç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[Çözdüğümüz sorun]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9286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 önerimiz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5184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[Neden bizi seçer]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56692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5669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Öncelik: Yüksek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392424" y="1600200"/>
            <a:ext cx="2651760" cy="4526280"/>
          </a:xfrm>
          <a:prstGeom prst="roundRect">
            <a:avLst>
              <a:gd name="adj" fmla="val 3448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66744" y="1874520"/>
            <a:ext cx="658368" cy="658368"/>
          </a:xfrm>
          <a:prstGeom prst="ellipse">
            <a:avLst/>
          </a:prstGeom>
          <a:solidFill>
            <a:srgbClr val="0C2233"/>
          </a:solidFill>
          <a:ln w="12700">
            <a:solidFill>
              <a:srgbClr val="0C2233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920" y="2045696"/>
            <a:ext cx="316017" cy="31601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666744" y="2679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[Segment 2]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3666744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ör. OSB'deki orta ölçekli işletmeler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3666744" y="3611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3666744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[Büyüklük, sektör]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3666744" y="4270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İhtiyaç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3666744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[Çözdüğümüz sorun]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3666744" y="49286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 önerimiz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3666744" y="5184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[Neden bizi seçer]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3666744" y="56692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666744" y="5669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Öncelik: Yüksek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236208" y="1600200"/>
            <a:ext cx="2651760" cy="4526280"/>
          </a:xfrm>
          <a:prstGeom prst="roundRect">
            <a:avLst>
              <a:gd name="adj" fmla="val 3448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510528" y="1874520"/>
            <a:ext cx="658368" cy="658368"/>
          </a:xfrm>
          <a:prstGeom prst="ellipse">
            <a:avLst/>
          </a:prstGeom>
          <a:solidFill>
            <a:srgbClr val="0C2233"/>
          </a:solidFill>
          <a:ln w="12700">
            <a:solidFill>
              <a:srgbClr val="0C2233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704" y="2045696"/>
            <a:ext cx="316017" cy="316017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510528" y="2679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[Segment 3]</a:t>
            </a:r>
            <a:endParaRPr lang="en-US" sz="1700" dirty="0"/>
          </a:p>
        </p:txBody>
      </p:sp>
      <p:sp>
        <p:nvSpPr>
          <p:cNvPr id="36" name="Text 31"/>
          <p:cNvSpPr txBox="1"/>
          <p:nvPr/>
        </p:nvSpPr>
        <p:spPr>
          <a:xfrm>
            <a:off x="6510528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ör. kamu binaları, hastaneler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6510528" y="3611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6510528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[Büyüklük, sektör]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6510528" y="4270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İhtiyaç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6510528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[Çözdüğümüz sorun]</a:t>
            </a:r>
            <a:endParaRPr lang="en-US" sz="1300" dirty="0"/>
          </a:p>
        </p:txBody>
      </p:sp>
      <p:sp>
        <p:nvSpPr>
          <p:cNvPr id="41" name="Text 36"/>
          <p:cNvSpPr txBox="1"/>
          <p:nvPr/>
        </p:nvSpPr>
        <p:spPr>
          <a:xfrm>
            <a:off x="6510528" y="49286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 önerimiz</a:t>
            </a:r>
            <a:endParaRPr lang="en-US" sz="1100" dirty="0"/>
          </a:p>
        </p:txBody>
      </p:sp>
      <p:sp>
        <p:nvSpPr>
          <p:cNvPr id="42" name="Text 37"/>
          <p:cNvSpPr txBox="1"/>
          <p:nvPr/>
        </p:nvSpPr>
        <p:spPr>
          <a:xfrm>
            <a:off x="6510528" y="5184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[Neden bizi seçer]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6510528" y="56692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912B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6510528" y="5669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Öncelik: Orta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9079992" y="1600200"/>
            <a:ext cx="2651760" cy="4526280"/>
          </a:xfrm>
          <a:prstGeom prst="roundRect">
            <a:avLst>
              <a:gd name="adj" fmla="val 3448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9354312" y="1874520"/>
            <a:ext cx="658368" cy="658368"/>
          </a:xfrm>
          <a:prstGeom prst="ellipse">
            <a:avLst/>
          </a:prstGeom>
          <a:solidFill>
            <a:srgbClr val="0C2233"/>
          </a:solidFill>
          <a:ln w="12700">
            <a:solidFill>
              <a:srgbClr val="0C2233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488" y="2045696"/>
            <a:ext cx="316017" cy="316017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9354312" y="26791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[Segment 4]</a:t>
            </a:r>
            <a:endParaRPr lang="en-US" sz="1700" dirty="0"/>
          </a:p>
        </p:txBody>
      </p:sp>
      <p:sp>
        <p:nvSpPr>
          <p:cNvPr id="49" name="Text 43"/>
          <p:cNvSpPr txBox="1"/>
          <p:nvPr/>
        </p:nvSpPr>
        <p:spPr>
          <a:xfrm>
            <a:off x="9354312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ör. ticari binalar, zincir mağazalar</a:t>
            </a:r>
            <a:endParaRPr 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9354312" y="3611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100" dirty="0"/>
          </a:p>
        </p:txBody>
      </p:sp>
      <p:sp>
        <p:nvSpPr>
          <p:cNvPr id="51" name="Text 45"/>
          <p:cNvSpPr txBox="1"/>
          <p:nvPr/>
        </p:nvSpPr>
        <p:spPr>
          <a:xfrm>
            <a:off x="9354312" y="38679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[Büyüklük, sektör]</a:t>
            </a:r>
            <a:endParaRPr lang="en-US" sz="1300" dirty="0"/>
          </a:p>
        </p:txBody>
      </p:sp>
      <p:sp>
        <p:nvSpPr>
          <p:cNvPr id="52" name="Text 46"/>
          <p:cNvSpPr txBox="1"/>
          <p:nvPr/>
        </p:nvSpPr>
        <p:spPr>
          <a:xfrm>
            <a:off x="9354312" y="42702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İhtiyaç</a:t>
            </a:r>
            <a:endParaRPr lang="en-US" sz="1100" dirty="0"/>
          </a:p>
        </p:txBody>
      </p:sp>
      <p:sp>
        <p:nvSpPr>
          <p:cNvPr id="53" name="Text 47"/>
          <p:cNvSpPr txBox="1"/>
          <p:nvPr/>
        </p:nvSpPr>
        <p:spPr>
          <a:xfrm>
            <a:off x="9354312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[Çözdüğümüz sorun]</a:t>
            </a:r>
            <a:endParaRPr lang="en-US" sz="1300" dirty="0"/>
          </a:p>
        </p:txBody>
      </p:sp>
      <p:sp>
        <p:nvSpPr>
          <p:cNvPr id="54" name="Text 48"/>
          <p:cNvSpPr txBox="1"/>
          <p:nvPr/>
        </p:nvSpPr>
        <p:spPr>
          <a:xfrm>
            <a:off x="9354312" y="49286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 önerimiz</a:t>
            </a:r>
            <a:endParaRPr lang="en-US" sz="1100" dirty="0"/>
          </a:p>
        </p:txBody>
      </p:sp>
      <p:sp>
        <p:nvSpPr>
          <p:cNvPr id="55" name="Text 49"/>
          <p:cNvSpPr txBox="1"/>
          <p:nvPr/>
        </p:nvSpPr>
        <p:spPr>
          <a:xfrm>
            <a:off x="9354312" y="5184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[Neden bizi seçer]</a:t>
            </a:r>
            <a:endParaRPr lang="en-US" sz="1300" dirty="0"/>
          </a:p>
        </p:txBody>
      </p:sp>
      <p:sp>
        <p:nvSpPr>
          <p:cNvPr id="56" name="Shape 50"/>
          <p:cNvSpPr/>
          <p:nvPr/>
        </p:nvSpPr>
        <p:spPr>
          <a:xfrm>
            <a:off x="9354312" y="56692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7A2"/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9354312" y="5669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Öncelik: Düşük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Pazar büyüklüğü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Toplam, ulaşılabilir ve hedeflenen pazar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[Şirket / birim adı]  ·  İş planı taslağı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1554480"/>
            <a:ext cx="4480560" cy="4480560"/>
          </a:xfrm>
          <a:prstGeom prst="ellipse">
            <a:avLst/>
          </a:prstGeom>
          <a:solidFill>
            <a:srgbClr val="D5E4E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3172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1762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 Mr 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737360" y="3017520"/>
            <a:ext cx="3017520" cy="3017520"/>
          </a:xfrm>
          <a:prstGeom prst="ellipse">
            <a:avLst/>
          </a:prstGeom>
          <a:solidFill>
            <a:srgbClr val="A9CBC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3172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5935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 Mr 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423160" y="4389120"/>
            <a:ext cx="1645920" cy="1645920"/>
          </a:xfrm>
          <a:prstGeom prst="ellipse">
            <a:avLst/>
          </a:prstGeom>
          <a:solidFill>
            <a:srgbClr val="0B7A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31720" y="4773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5074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 M ₺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126480" y="164592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D5E4E8"/>
          </a:solidFill>
          <a:ln w="12700">
            <a:solidFill>
              <a:srgbClr val="D5E4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0" y="1645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pazar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1938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Hizmetimize ihtiyaç duyabilecek tüm müşterilerin yıllık harcaması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24231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[Müşteri sayısı] × [Yıllık ortalama harcama]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301752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A9CBC5"/>
          </a:solidFill>
          <a:ln w="12700">
            <a:solidFill>
              <a:srgbClr val="A9CBC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30175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971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Ulaşılabilir pazar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3101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Coğrafya, kapasite ve hizmet kapsamımızla gerçekten erişebileceğimiz kısım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7947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× [Ulaşılabilir oran, %]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438912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B7A6E"/>
          </a:solidFill>
          <a:ln w="12700">
            <a:solidFill>
              <a:srgbClr val="0B7A6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26480" y="43891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3434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 pazar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6817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döneminde gerçekçi olarak kazanmayı hedeflediğimiz pay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51663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× [Hedef pazar payı, %]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26480" y="5669280"/>
            <a:ext cx="5513832" cy="502920"/>
          </a:xfrm>
          <a:prstGeom prst="roundRect">
            <a:avLst>
              <a:gd name="adj" fmla="val 14545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5669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[TÜİK, EPDK, sektör raporu, iç veri]  ·  Yıl: [YYYY]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Müşteri hedefi ve yol haritası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926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 müşteriye, hangi sürede ulaşacağız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[Şirket / birim adı]  ·  İş planı taslağı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0350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DCE2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Hedef müşteri sayısı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755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9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değerler, güncellenecek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2148840"/>
          <a:ext cx="56692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360920" y="1828800"/>
            <a:ext cx="0" cy="2743200"/>
          </a:xfrm>
          <a:prstGeom prst="line">
            <a:avLst/>
          </a:prstGeom>
          <a:noFill/>
          <a:ln w="25400">
            <a:solidFill>
              <a:srgbClr val="DCE2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78040" y="1691640"/>
            <a:ext cx="365760" cy="365760"/>
          </a:xfrm>
          <a:prstGeom prst="ellipse">
            <a:avLst/>
          </a:prstGeom>
          <a:solidFill>
            <a:srgbClr val="0B7A6E"/>
          </a:solidFill>
          <a:ln w="25400">
            <a:solidFill>
              <a:srgbClr val="0B7A6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0" y="1645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1  </a:t>
            </a:r>
            <a:pPr indent="0" marL="0">
              <a:buNone/>
            </a:pPr>
            <a:r>
              <a:rPr lang="en-US" sz="14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[Ay / çeyrek]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19842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[Hazırlık: ekip, süreç, pilot müşteri]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78040" y="260604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7A6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0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2  </a:t>
            </a:r>
            <a:pPr indent="0" marL="0">
              <a:buNone/>
            </a:pPr>
            <a:r>
              <a:rPr lang="en-US" sz="14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[Ay / çeyrek]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2898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[İlk projeler ve referans oluşturma]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178040" y="352044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7A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0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3  </a:t>
            </a:r>
            <a:pPr indent="0" marL="0">
              <a:buNone/>
            </a:pPr>
            <a:r>
              <a:rPr lang="en-US" sz="14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[Ay / çeyrek]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38130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[Segment genişletme, satış ölçeklendirme]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178040" y="443484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7A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0" y="4389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4  </a:t>
            </a:r>
            <a:pPr indent="0" marL="0">
              <a:buNone/>
            </a:pPr>
            <a:r>
              <a:rPr lang="en-US" sz="1400" dirty="0">
                <a:solidFill>
                  <a:srgbClr val="8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[Ay / çeyrek]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47274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[Hedef müşteri sayısına ulaşma]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178040" y="5486400"/>
            <a:ext cx="4462272" cy="685800"/>
          </a:xfrm>
          <a:prstGeom prst="roundRect">
            <a:avLst>
              <a:gd name="adj" fmla="val 10667"/>
            </a:avLst>
          </a:prstGeom>
          <a:solidFill>
            <a:srgbClr val="0C2233"/>
          </a:solidFill>
          <a:ln w="12700">
            <a:solidFill>
              <a:srgbClr val="0C22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06640" y="548640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talebi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[Onay, bütçe, kaynak]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İş Planı Taslağı</dc:title>
  <dc:subject>PptxGenJS Presentation</dc:subject>
  <dc:creator>PptxGenJS</dc:creator>
  <cp:lastModifiedBy>PptxGenJS</cp:lastModifiedBy>
  <cp:revision>1</cp:revision>
  <dcterms:created xsi:type="dcterms:W3CDTF">2026-09-24T11:15:12Z</dcterms:created>
  <dcterms:modified xsi:type="dcterms:W3CDTF">2026-09-24T11:15:12Z</dcterms:modified>
</cp:coreProperties>
</file>